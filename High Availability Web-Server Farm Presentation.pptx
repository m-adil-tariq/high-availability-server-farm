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86" r:id="rId6"/>
    <p:sldId id="258" r:id="rId7"/>
    <p:sldId id="282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049" autoAdjust="0"/>
  </p:normalViewPr>
  <p:slideViewPr>
    <p:cSldViewPr snapToGrid="0">
      <p:cViewPr varScale="1">
        <p:scale>
          <a:sx n="79" d="100"/>
          <a:sy n="79" d="100"/>
        </p:scale>
        <p:origin x="72" y="12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F9D8-F256-F9EC-489A-C2A705F7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E60A7-7C68-B7A1-1580-1A8787E3E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39874-8F9D-67E6-C993-05570586D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CEB8D-9F52-66DE-51A3-26A86C65C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3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81EFE-C4C6-F15B-37DC-7815A07A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D65B6-3818-AFEC-4D8D-598CDFB10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98BBD-F0BD-0E10-3B1F-65A826B14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77D75-8FC4-961A-6ED0-96358F5BC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45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5A2C-3AEE-61ED-CA87-E1459143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1066D-CF14-3315-9539-0EBB4FF57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5844A-1833-7A57-AB09-98E37BB1C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4F228-FA52-DD8E-776B-DC64101B2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33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2ACA-8DE4-A24C-FAE4-00CB3636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F94C5-958A-C8DB-1B1E-A877E50DD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EBF8B-7F23-3651-3E56-DED4B254B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30D1D-89A5-8B01-B072-C9C515C37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853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535B-C398-CF92-C94F-A7810D2A6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BB84A-A22F-945C-B9F0-2F541BA01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CC392-F46C-6B4A-9926-CAD9BF3A9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DBCEC-07E0-D71B-CE32-1D8317D5D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088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7832-1DEC-7753-D4A3-49099B7F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08EF4-314C-7AD8-3C4C-3ABC58346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7F150-D4C2-4B92-D2BB-B13614443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438B4-9ADE-20FD-C2D8-BD0CA9A95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9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42C1-66C3-90E0-F3B5-A242B773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CE05A-DDCF-9A03-4851-A878701E0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299C9-9030-0FF2-D6F5-2A5E0D1C2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A8CAE-5C9A-FCB6-BE97-EDB707FCD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305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CF37-D301-546B-112C-22E306E7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A24C2-09BB-5312-7DF0-D70F9CFD7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BC89B-E063-436B-9C82-E675B9A75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61561-3A0B-0073-2207-0749DAAAD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4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45E8-1DF4-41FC-D5E1-77664EF6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E82AD-61F0-75E5-D7F9-853E9FD86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684A2-CF4B-29AC-2E23-AF0ACC88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C4BA2-8E31-5257-2321-FC47EBD03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22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67F4D-8DA2-A0B5-1777-6FFE3904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43049-6F6C-0405-8557-6507A2286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9D852-A07C-728D-9D69-0C8BEE4D2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8E6D-4EC9-335A-FCB6-BFA46FBB8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24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6413-D12C-DF46-99D2-9A6D43CF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B7C86-B201-C4FA-5C43-44089BF48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F4D94-84A5-DDCA-21C8-DC458542A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4D1BA-62C6-16E0-A459-BB8B49BFB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55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2052" y="2466190"/>
            <a:ext cx="4941771" cy="3200400"/>
          </a:xfrm>
        </p:spPr>
        <p:txBody>
          <a:bodyPr anchor="ctr"/>
          <a:lstStyle/>
          <a:p>
            <a:pPr algn="r"/>
            <a:r>
              <a:rPr lang="en-US" dirty="0"/>
              <a:t>Data Communication and Networking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Semester project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41C6-B95F-B9AE-0444-A4889E28F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5CD6-1DF8-2DDD-5BE8-796B5689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7" y="268360"/>
            <a:ext cx="9159415" cy="2121177"/>
          </a:xfrm>
        </p:spPr>
        <p:txBody>
          <a:bodyPr/>
          <a:lstStyle/>
          <a:p>
            <a:r>
              <a:rPr lang="en-US" b="1" dirty="0"/>
              <a:t>Title: </a:t>
            </a:r>
            <a:br>
              <a:rPr lang="en-US" b="1" dirty="0"/>
            </a:br>
            <a:r>
              <a:rPr lang="en-US" b="1" dirty="0"/>
              <a:t>	High Availability Web Server Network Using Dynamic Routing, Load Balancing, and Failover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01E8F2E-6CFF-4D9E-2664-C15241F8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925440"/>
          </a:xfrm>
        </p:spPr>
        <p:txBody>
          <a:bodyPr/>
          <a:lstStyle/>
          <a:p>
            <a:r>
              <a:rPr lang="en-US" dirty="0"/>
              <a:t>Network Topology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FAE957-DD87-39FC-705A-5F631AB1E2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5466" y="1193801"/>
            <a:ext cx="11921067" cy="530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Key features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818" y="1462277"/>
            <a:ext cx="10447084" cy="461679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Dynamic IP assignment using DHCP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Dynamic Routing using OSPF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Failover 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Optimally sized subnets for point-to-point 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Efficient IP addressing across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Scalable Networks on client and server side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/>
              <a:t>Automatic Route learning on new path addition to network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A94CA-E3CB-20DD-7870-05183EC3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3575-6B31-C76E-29B7-1C19AEA8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Dynamic routing works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A7FF57-59C2-1AE2-AEE1-B3DF87F06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818" y="1462277"/>
            <a:ext cx="10447084" cy="4616790"/>
          </a:xfrm>
        </p:spPr>
        <p:txBody>
          <a:bodyPr>
            <a:normAutofit/>
          </a:bodyPr>
          <a:lstStyle/>
          <a:p>
            <a:r>
              <a:rPr lang="en-US" sz="3200" b="0" dirty="0"/>
              <a:t>Whenever a new Route is available to a router which has OSPF enabled on it, it develops an ‘adjacency’ with it. Every router with OSPF enabled advertises its adjacencies which helps Routers create a ‘map-like’ structure in its memory, we can actually see it in for of “O-type” routes in the output of ‘show </a:t>
            </a:r>
            <a:r>
              <a:rPr lang="en-US" sz="3200" b="0" dirty="0" err="1"/>
              <a:t>ip</a:t>
            </a:r>
            <a:r>
              <a:rPr lang="en-US" sz="3200" b="0" dirty="0"/>
              <a:t> route’ command on routers.</a:t>
            </a:r>
          </a:p>
          <a:p>
            <a:r>
              <a:rPr lang="en-US" sz="3200" b="0" dirty="0"/>
              <a:t>Lets see how it works: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B0647AF0-FF73-3C19-07C9-730A45221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3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3289-DD89-26AE-D958-653FECB2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2697-6FC2-8190-6AFF-2FBBE606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36312"/>
          </a:xfrm>
        </p:spPr>
        <p:txBody>
          <a:bodyPr anchor="b">
            <a:normAutofit/>
          </a:bodyPr>
          <a:lstStyle/>
          <a:p>
            <a:r>
              <a:rPr lang="en-US" dirty="0"/>
              <a:t>How Dynamic routing works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8DE7B8-8EF1-184C-8FD3-0B3D33EAB1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61177" y="987235"/>
            <a:ext cx="9869646" cy="5551676"/>
          </a:xfrm>
          <a:prstGeom prst="rect">
            <a:avLst/>
          </a:prstGeom>
        </p:spPr>
      </p:pic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4F439EB1-7848-194F-34DF-027A4808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873CEC-D159-9D5B-F278-B32D09E64CC2}"/>
              </a:ext>
            </a:extLst>
          </p:cNvPr>
          <p:cNvSpPr/>
          <p:nvPr/>
        </p:nvSpPr>
        <p:spPr>
          <a:xfrm>
            <a:off x="6565392" y="3429000"/>
            <a:ext cx="4233672" cy="244176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853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A30-B49D-0D02-1B31-CB0EB606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D826-D5D4-9F6F-433A-67DF4699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36312"/>
          </a:xfrm>
        </p:spPr>
        <p:txBody>
          <a:bodyPr anchor="b">
            <a:normAutofit/>
          </a:bodyPr>
          <a:lstStyle/>
          <a:p>
            <a:r>
              <a:rPr lang="en-US" dirty="0"/>
              <a:t>How Dynamic routing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A53568-CFC4-672A-FC46-B80DB241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99C7BC-512E-6D20-E104-F7D0ACB923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33272" y="804673"/>
            <a:ext cx="9765792" cy="59168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D624694-233F-C4BC-4B29-91F4FDB93F72}"/>
              </a:ext>
            </a:extLst>
          </p:cNvPr>
          <p:cNvSpPr/>
          <p:nvPr/>
        </p:nvSpPr>
        <p:spPr>
          <a:xfrm>
            <a:off x="1225296" y="3712464"/>
            <a:ext cx="8174736" cy="215830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DD014-45C0-0B83-5FEA-81006BA16411}"/>
              </a:ext>
            </a:extLst>
          </p:cNvPr>
          <p:cNvSpPr/>
          <p:nvPr/>
        </p:nvSpPr>
        <p:spPr>
          <a:xfrm>
            <a:off x="1225296" y="3209544"/>
            <a:ext cx="8174736" cy="34747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691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D31F-3785-914A-0F60-93040CB2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0FAE-8205-071E-4887-C637DD7D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Failover works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F12EFF-9A02-DEC5-5C67-E43B3D897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818" y="1462277"/>
            <a:ext cx="10447084" cy="4616790"/>
          </a:xfrm>
        </p:spPr>
        <p:txBody>
          <a:bodyPr>
            <a:normAutofit/>
          </a:bodyPr>
          <a:lstStyle/>
          <a:p>
            <a:r>
              <a:rPr lang="en-US" sz="3200" b="0" dirty="0"/>
              <a:t>Failover means when a route to a destination gets down due to some reasons and the router, without any manual intervention, finds a new path to destination if possible.</a:t>
            </a:r>
          </a:p>
          <a:p>
            <a:r>
              <a:rPr lang="en-US" sz="3200" b="0" dirty="0"/>
              <a:t>We can see it happening live in the routing table that when a connection dies, another one takes its place.</a:t>
            </a:r>
          </a:p>
          <a:p>
            <a:r>
              <a:rPr lang="en-US" sz="3200" b="0" dirty="0"/>
              <a:t>Moreover, this can be confirmed in simulation mode as well.</a:t>
            </a:r>
          </a:p>
          <a:p>
            <a:r>
              <a:rPr lang="en-US" sz="3200" b="0" dirty="0"/>
              <a:t>Lets see how it works: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09A24AB8-2222-58ED-3726-3CE4F1E636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9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8CAE-9446-D073-BFDA-B92CDF9D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6B595-0CDA-8DF0-3D21-5D521EC7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Failover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0FB5E9B7-41AD-8BD4-D137-647A074762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C4AFD-6430-43C6-B859-7CBF9AC7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09" y="2033608"/>
            <a:ext cx="11278182" cy="426559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9C96B0-0A60-F7FC-33A4-B73C78D92787}"/>
              </a:ext>
            </a:extLst>
          </p:cNvPr>
          <p:cNvCxnSpPr>
            <a:cxnSpLocks/>
          </p:cNvCxnSpPr>
          <p:nvPr/>
        </p:nvCxnSpPr>
        <p:spPr>
          <a:xfrm flipH="1">
            <a:off x="6206836" y="1893455"/>
            <a:ext cx="2013528" cy="2438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6447C5-C4B6-BB4B-DDE8-048F0F46047F}"/>
              </a:ext>
            </a:extLst>
          </p:cNvPr>
          <p:cNvCxnSpPr>
            <a:cxnSpLocks/>
          </p:cNvCxnSpPr>
          <p:nvPr/>
        </p:nvCxnSpPr>
        <p:spPr>
          <a:xfrm flipH="1">
            <a:off x="6345382" y="1874982"/>
            <a:ext cx="2059709" cy="32696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54F87E-FC4E-8F34-3F17-506842CD84AC}"/>
              </a:ext>
            </a:extLst>
          </p:cNvPr>
          <p:cNvSpPr txBox="1"/>
          <p:nvPr/>
        </p:nvSpPr>
        <p:spPr>
          <a:xfrm>
            <a:off x="7296727" y="1247124"/>
            <a:ext cx="2493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possible paths to same destination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0911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0CE3-D6D0-190A-1B96-20F475A9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501D-275D-B4C5-3028-23A1DDA7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Failover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61888B0-0DCE-367F-406E-95A53E5D8D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0B4B2-4C27-32BE-2D77-AECE671B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6909" y="2197673"/>
            <a:ext cx="11278182" cy="393746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69FDC5-D84F-5764-0549-8634C1EEEFCC}"/>
              </a:ext>
            </a:extLst>
          </p:cNvPr>
          <p:cNvCxnSpPr>
            <a:cxnSpLocks/>
          </p:cNvCxnSpPr>
          <p:nvPr/>
        </p:nvCxnSpPr>
        <p:spPr>
          <a:xfrm flipH="1">
            <a:off x="6206836" y="1893455"/>
            <a:ext cx="2013528" cy="2438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A67A36-64D8-F2E2-727F-5ADAD0C17395}"/>
              </a:ext>
            </a:extLst>
          </p:cNvPr>
          <p:cNvCxnSpPr>
            <a:cxnSpLocks/>
          </p:cNvCxnSpPr>
          <p:nvPr/>
        </p:nvCxnSpPr>
        <p:spPr>
          <a:xfrm flipH="1">
            <a:off x="6345382" y="1874982"/>
            <a:ext cx="2059709" cy="32696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929DB3-F929-0285-8A8F-4306814FB5B4}"/>
              </a:ext>
            </a:extLst>
          </p:cNvPr>
          <p:cNvSpPr txBox="1"/>
          <p:nvPr/>
        </p:nvSpPr>
        <p:spPr>
          <a:xfrm>
            <a:off x="7287491" y="1465241"/>
            <a:ext cx="24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Path dies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1286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2A0D-0C38-56C2-0A99-DEC67FA1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6066-66CA-4A26-92CA-F802836C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Failover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6380E7B-60B9-2118-387C-2A5AD76701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7CEBB-4DF1-A2B6-E0EF-2251C4AEBF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1098" y="1115286"/>
            <a:ext cx="10447084" cy="54206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D4CD8D-CD5E-7427-4E31-9C42C865E73B}"/>
              </a:ext>
            </a:extLst>
          </p:cNvPr>
          <p:cNvSpPr/>
          <p:nvPr/>
        </p:nvSpPr>
        <p:spPr>
          <a:xfrm>
            <a:off x="1051560" y="4960883"/>
            <a:ext cx="8494776" cy="66267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206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3873-57F0-D6A6-6E37-F57842C2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25F8-58AE-B71F-CBB3-258C57D3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Load balancing works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6F4BA20-AB77-9EA5-B584-32351A08F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818" y="1462277"/>
            <a:ext cx="10447084" cy="4616790"/>
          </a:xfrm>
        </p:spPr>
        <p:txBody>
          <a:bodyPr>
            <a:normAutofit/>
          </a:bodyPr>
          <a:lstStyle/>
          <a:p>
            <a:r>
              <a:rPr lang="en-US" sz="3200" b="0" dirty="0"/>
              <a:t>Load Balancing means to share the load / traffic across multiple ECMPs.</a:t>
            </a:r>
          </a:p>
          <a:p>
            <a:r>
              <a:rPr lang="en-US" sz="3200" b="0" dirty="0"/>
              <a:t>ECMP stands for “Equi-Cost Multi-Path”. In simple words, two or more paths to a common destination are said to be ECMPs if they have equal cost of reaching that common destination.</a:t>
            </a:r>
          </a:p>
          <a:p>
            <a:r>
              <a:rPr lang="en-US" sz="3200" b="0" dirty="0"/>
              <a:t>Redundant paths / routes were set-up for showcasing the working of ECMP Load Balancing</a:t>
            </a:r>
          </a:p>
          <a:p>
            <a:r>
              <a:rPr lang="en-US" sz="3200" b="0" dirty="0"/>
              <a:t>Lets see how it works: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C512CEF-C309-54A4-5FCD-4733DB2D62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6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832F-CA2C-47FE-866B-4B92B582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49E4-1E24-5408-96C4-DD8A5751A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Load balancing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EE9BE3C-B201-1153-B336-B5C9E4CF44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A2EE448C-17D3-D3CD-7AC8-156979DB1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043709"/>
            <a:ext cx="9765792" cy="56777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A96685-5099-4CBB-88FF-E10BAC89EFE4}"/>
              </a:ext>
            </a:extLst>
          </p:cNvPr>
          <p:cNvSpPr/>
          <p:nvPr/>
        </p:nvSpPr>
        <p:spPr>
          <a:xfrm>
            <a:off x="1225296" y="4957483"/>
            <a:ext cx="8174736" cy="78889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26FA0-BC16-34A2-5959-9827A77E243E}"/>
              </a:ext>
            </a:extLst>
          </p:cNvPr>
          <p:cNvSpPr/>
          <p:nvPr/>
        </p:nvSpPr>
        <p:spPr>
          <a:xfrm>
            <a:off x="3702424" y="4957478"/>
            <a:ext cx="887505" cy="78889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0998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5F3A-031D-4330-4FCB-7BA5B846C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545A-31B2-DBD6-19E5-988AAED4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558801"/>
            <a:ext cx="9953308" cy="558799"/>
          </a:xfrm>
        </p:spPr>
        <p:txBody>
          <a:bodyPr>
            <a:noAutofit/>
          </a:bodyPr>
          <a:lstStyle/>
          <a:p>
            <a:r>
              <a:rPr lang="en-US" sz="3600" dirty="0"/>
              <a:t>How Load balancing works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413C4872-7B8E-96C0-BAF3-99FB96C82E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90D14580-228E-7DF9-F31A-34C349F4E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272" y="1134219"/>
            <a:ext cx="9765792" cy="54967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253FDA-8A0A-F5ED-CC1A-761E9A8BCBDB}"/>
              </a:ext>
            </a:extLst>
          </p:cNvPr>
          <p:cNvSpPr/>
          <p:nvPr/>
        </p:nvSpPr>
        <p:spPr>
          <a:xfrm>
            <a:off x="3814184" y="3908201"/>
            <a:ext cx="887505" cy="788894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E0D14-E889-493F-24F5-F74830BCDB3E}"/>
              </a:ext>
            </a:extLst>
          </p:cNvPr>
          <p:cNvSpPr/>
          <p:nvPr/>
        </p:nvSpPr>
        <p:spPr>
          <a:xfrm>
            <a:off x="7563224" y="2417884"/>
            <a:ext cx="887505" cy="788894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E93C5-F758-E08C-D257-9CBE3F5E3A61}"/>
              </a:ext>
            </a:extLst>
          </p:cNvPr>
          <p:cNvSpPr/>
          <p:nvPr/>
        </p:nvSpPr>
        <p:spPr>
          <a:xfrm>
            <a:off x="7427900" y="5000228"/>
            <a:ext cx="887505" cy="788894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340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sz="6600" dirty="0"/>
              <a:t>BYE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{5B78D08C-4C49-4097-AB82-CF39B0FAD917}TF7521aafa-c748-4c40-a498-ba511be234dc5b1b6097_win32-5039330bb2f3</Template>
  <TotalTime>185</TotalTime>
  <Words>363</Words>
  <Application>Microsoft Office PowerPoint</Application>
  <PresentationFormat>Widescreen</PresentationFormat>
  <Paragraphs>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Data Communication and Networking   Semester project</vt:lpstr>
      <vt:lpstr>Title:   High Availability Web Server Network Using Dynamic Routing, Load Balancing, and Failover</vt:lpstr>
      <vt:lpstr>Network Topology</vt:lpstr>
      <vt:lpstr>Key features</vt:lpstr>
      <vt:lpstr>How Dynamic routing works</vt:lpstr>
      <vt:lpstr>How Dynamic routing works</vt:lpstr>
      <vt:lpstr>How Dynamic routing works</vt:lpstr>
      <vt:lpstr>How Failover works</vt:lpstr>
      <vt:lpstr>How Failover works</vt:lpstr>
      <vt:lpstr>How Failover works</vt:lpstr>
      <vt:lpstr>How Failover works</vt:lpstr>
      <vt:lpstr>How Load balancing works</vt:lpstr>
      <vt:lpstr>How Load balancing works</vt:lpstr>
      <vt:lpstr>How Load balancing works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24-NTU-CS-FL-1054</dc:creator>
  <cp:lastModifiedBy>24-NTU-CS-FL-1054</cp:lastModifiedBy>
  <cp:revision>5</cp:revision>
  <dcterms:created xsi:type="dcterms:W3CDTF">2025-12-28T03:36:48Z</dcterms:created>
  <dcterms:modified xsi:type="dcterms:W3CDTF">2026-06-16T18:47:00Z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